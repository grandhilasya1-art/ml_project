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Samples</c:v>
                </c:pt>
              </c:strCache>
            </c:strRef>
          </c:tx>
          <c:spPr>
            <a:solidFill>
              <a:srgbClr val="D4AF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3E9D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3</c:v>
                  </c:pt>
                  <c:pt idx="1">
                    <c:v>4</c:v>
                  </c:pt>
                  <c:pt idx="2">
                    <c:v>5</c:v>
                  </c:pt>
                  <c:pt idx="3">
                    <c:v>6</c:v>
                  </c:pt>
                  <c:pt idx="4">
                    <c:v>7</c:v>
                  </c:pt>
                  <c:pt idx="5">
                    <c:v>8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53</c:v>
                </c:pt>
                <c:pt idx="2">
                  <c:v>681</c:v>
                </c:pt>
                <c:pt idx="3">
                  <c:v>638</c:v>
                </c:pt>
                <c:pt idx="4">
                  <c:v>199</c:v>
                </c:pt>
                <c:pt idx="5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3E9D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C7AFA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C7AFA0"/>
                    </a:solidFill>
                    <a:latin typeface="Arial"/>
                  </a:rPr>
                  <a:t>Quality Score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3E9D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9C7A2E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C7AFA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C7AFA0"/>
                    </a:solidFill>
                    <a:latin typeface="Arial"/>
                  </a:rPr>
                  <a:t>Number of Samples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3E9D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3F0C1F"/>
        </a:solidFill>
        <a:ln>
          <a:noFill/>
        </a:ln>
        <a:effectLst/>
      </c:spPr>
    </c:plotArea>
    <c:plotVisOnly val="1"/>
    <c:dispBlanksAs val="span"/>
  </c:chart>
  <c:spPr>
    <a:solidFill>
      <a:srgbClr val="3F0C1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Volatile Acidity (g/dm³)</c:v>
                </c:pt>
              </c:strCache>
            </c:strRef>
          </c:tx>
          <c:spPr>
            <a:solidFill>
              <a:srgbClr val="8B1E3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3E9D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3</c:v>
                  </c:pt>
                  <c:pt idx="1">
                    <c:v>4</c:v>
                  </c:pt>
                  <c:pt idx="2">
                    <c:v>5</c:v>
                  </c:pt>
                  <c:pt idx="3">
                    <c:v>6</c:v>
                  </c:pt>
                  <c:pt idx="4">
                    <c:v>7</c:v>
                  </c:pt>
                  <c:pt idx="5">
                    <c:v>8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0.88</c:v>
                </c:pt>
                <c:pt idx="1">
                  <c:v>0.72</c:v>
                </c:pt>
                <c:pt idx="2">
                  <c:v>0.58</c:v>
                </c:pt>
                <c:pt idx="3">
                  <c:v>0.5</c:v>
                </c:pt>
                <c:pt idx="4">
                  <c:v>0.4</c:v>
                </c:pt>
                <c:pt idx="5">
                  <c:v>0.42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F3E9D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C7AFA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C7AFA0"/>
                    </a:solidFill>
                    <a:latin typeface="Arial"/>
                  </a:rPr>
                  <a:t>Quality Score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3E9D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9C7A2E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C7AFA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C7AFA0"/>
                    </a:solidFill>
                    <a:latin typeface="Arial"/>
                  </a:rPr>
                  <a:t>Mean Volatile Acidity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3E9D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3F0C1F"/>
        </a:solidFill>
        <a:ln>
          <a:noFill/>
        </a:ln>
        <a:effectLst/>
      </c:spPr>
    </c:plotArea>
    <c:plotVisOnly val="1"/>
    <c:dispBlanksAs val="span"/>
  </c:chart>
  <c:spPr>
    <a:solidFill>
      <a:srgbClr val="3F0C1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Quality</c:v>
                </c:pt>
              </c:strCache>
            </c:strRef>
          </c:tx>
          <c:spPr>
            <a:solidFill>
              <a:srgbClr val="D4AF37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F3E9D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4AF3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4AF3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4AF3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F3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4AF3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B1E3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B1E3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B1E3F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8B1E3F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8B1E3F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8B1E3F"/>
              </a:solidFill>
              <a:effectLst/>
            </c:spPr>
          </c:dPt>
          <c:cat>
            <c:multiLvlStrRef>
              <c:f>Sheet1!$A$2:$A$12</c:f>
              <c:multiLvlStrCache>
                <c:ptCount val="11"/>
                <c:lvl>
                  <c:pt idx="0">
                    <c:v>Alcohol</c:v>
                  </c:pt>
                  <c:pt idx="1">
                    <c:v>Sulphates</c:v>
                  </c:pt>
                  <c:pt idx="2">
                    <c:v>Citric Acid</c:v>
                  </c:pt>
                  <c:pt idx="3">
                    <c:v>Fixed Acidity</c:v>
                  </c:pt>
                  <c:pt idx="4">
                    <c:v>Residual Sugar</c:v>
                  </c:pt>
                  <c:pt idx="5">
                    <c:v>Free SO₂</c:v>
                  </c:pt>
                  <c:pt idx="6">
                    <c:v>pH</c:v>
                  </c:pt>
                  <c:pt idx="7">
                    <c:v>Chlorides</c:v>
                  </c:pt>
                  <c:pt idx="8">
                    <c:v>Density</c:v>
                  </c:pt>
                  <c:pt idx="9">
                    <c:v>Total SO₂</c:v>
                  </c:pt>
                  <c:pt idx="10">
                    <c:v>Volatile Acidity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0.48</c:v>
                </c:pt>
                <c:pt idx="1">
                  <c:v>0.25</c:v>
                </c:pt>
                <c:pt idx="2">
                  <c:v>0.23</c:v>
                </c:pt>
                <c:pt idx="3">
                  <c:v>0.12</c:v>
                </c:pt>
                <c:pt idx="4">
                  <c:v>0.01</c:v>
                </c:pt>
                <c:pt idx="5">
                  <c:v>-0.05</c:v>
                </c:pt>
                <c:pt idx="6">
                  <c:v>-0.06</c:v>
                </c:pt>
                <c:pt idx="7">
                  <c:v>-0.13</c:v>
                </c:pt>
                <c:pt idx="8">
                  <c:v>-0.17</c:v>
                </c:pt>
                <c:pt idx="9">
                  <c:v>-0.19</c:v>
                </c:pt>
                <c:pt idx="10">
                  <c:v>-0.39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50" u="none">
                  <a:solidFill>
                    <a:srgbClr val="F3E9D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F3E9D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9C7A2E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C7AFA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C7AFA0"/>
                    </a:solidFill>
                    <a:latin typeface="Arial"/>
                  </a:rPr>
                  <a:t>Pearson Correlation with Quality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3E9D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3F0C1F"/>
        </a:solidFill>
        <a:ln>
          <a:noFill/>
        </a:ln>
        <a:effectLst/>
      </c:spPr>
    </c:plotArea>
    <c:plotVisOnly val="1"/>
    <c:dispBlanksAs val="span"/>
  </c:chart>
  <c:spPr>
    <a:solidFill>
      <a:srgbClr val="3F0C1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 (binary)</c:v>
                </c:pt>
              </c:strCache>
            </c:strRef>
          </c:tx>
          <c:spPr>
            <a:solidFill>
              <a:srgbClr val="D4AF37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3E9D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F1-Score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0.74</c:v>
                </c:pt>
                <c:pt idx="1">
                  <c:v>0.72</c:v>
                </c:pt>
                <c:pt idx="2">
                  <c:v>0.7</c:v>
                </c:pt>
                <c:pt idx="3">
                  <c:v>0.71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Multinomial Logistic Regression</c:v>
                </c:pt>
              </c:strCache>
            </c:strRef>
          </c:tx>
          <c:spPr>
            <a:solidFill>
              <a:srgbClr val="8B1E3F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3E9D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F1-Score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0.61</c:v>
                </c:pt>
                <c:pt idx="1">
                  <c:v>0.58</c:v>
                </c:pt>
                <c:pt idx="2">
                  <c:v>0.57</c:v>
                </c:pt>
                <c:pt idx="3">
                  <c:v>0.57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000" u="none">
                  <a:solidFill>
                    <a:srgbClr val="F3E9D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3E9D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9C7A2E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C7AFA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C7AFA0"/>
                    </a:solidFill>
                    <a:latin typeface="Arial"/>
                  </a:rPr>
                  <a:t>Score</a:t>
                </a:r>
              </a:p>
            </c:rich>
          </c:tx>
          <c:layout/>
          <c:overlay val="0"/>
        </c:title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3E9D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3F0C1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3E9D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3F0C1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0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B0611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-1463040"/>
            <a:ext cx="4754880" cy="4754880"/>
          </a:xfrm>
          <a:prstGeom prst="ellipse">
            <a:avLst/>
          </a:prstGeom>
          <a:solidFill>
            <a:srgbClr val="3F0C1F"/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480560"/>
            <a:ext cx="4023360" cy="4023360"/>
          </a:xfrm>
          <a:prstGeom prst="ellipse">
            <a:avLst/>
          </a:prstGeom>
          <a:solidFill>
            <a:srgbClr val="3F0C1F"/>
          </a:solidFill>
          <a:ln/>
        </p:spPr>
      </p:sp>
      <p:pic>
        <p:nvPicPr>
          <p:cNvPr id="5" name="Image 0" descr="icons/grap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85800"/>
            <a:ext cx="1417320" cy="1417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·  CLASSIFICATION PROJECT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3E9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Wine Quality Classification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1280160" y="35661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7A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Logistic Regression &amp; Multinomial Logistic Regression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175504" y="4343400"/>
            <a:ext cx="182880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737360" y="45262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sensory quality from the physicochemical fingerprint of wine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Lasya  |  B.Tech CSE, First Year  |  KL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B0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E9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7040880" cy="4709160"/>
          </a:xfrm>
          <a:prstGeom prst="roundRect">
            <a:avLst>
              <a:gd name="adj" fmla="val 2330"/>
            </a:avLst>
          </a:prstGeom>
          <a:solidFill>
            <a:srgbClr val="3F0C1F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1847088"/>
            <a:ext cx="566928" cy="566928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6" name="Image 0" descr="icons/target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474" y="1909450"/>
            <a:ext cx="442204" cy="4422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288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514600"/>
            <a:ext cx="63093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quality is traditionally judged by expert sensory tasting — slow, costly, and subjective.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bottle carries 11 measurable physicochemical properties (acidity, sugar, alcohol, sulphates, etc.).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learn a mapping from these lab-measurable inputs to a reliable quality judgement.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frame it as a classification problem and compare two regression-based classifiers: binary Logistic Regression and Multinomial Logistic Regression, to see which handles the quality scale better.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818120" y="1508760"/>
            <a:ext cx="3840480" cy="4709160"/>
          </a:xfrm>
          <a:prstGeom prst="roundRect">
            <a:avLst>
              <a:gd name="adj" fmla="val 2857"/>
            </a:avLst>
          </a:prstGeom>
          <a:solidFill>
            <a:srgbClr val="4E1329"/>
          </a:solidFill>
          <a:ln/>
        </p:spPr>
      </p:sp>
      <p:sp>
        <p:nvSpPr>
          <p:cNvPr id="10" name="Shape 7"/>
          <p:cNvSpPr/>
          <p:nvPr/>
        </p:nvSpPr>
        <p:spPr>
          <a:xfrm>
            <a:off x="8138160" y="1847088"/>
            <a:ext cx="566928" cy="566928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1" name="Image 1" descr="icons/flask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522" y="1909450"/>
            <a:ext cx="442204" cy="4422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138160" y="25420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Framing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8138160" y="30175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C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8138160" y="3246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physicochemical features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8138160" y="38587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C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8138160" y="408736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quality score (0–10 scale)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8138160" y="47000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C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8138160" y="492861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(binary: good vs. not-good)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8138160" y="554126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C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8138160" y="576986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Logistic Regression (multi-class quality bands)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C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Quality Classification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0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DATA SOURCE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E9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Features &amp; Dataset Identification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3F0C1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19072"/>
            <a:ext cx="566928" cy="566928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6" name="Image 0" descr="icons/databas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322" y="1781434"/>
            <a:ext cx="442204" cy="4422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627632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Wine Quality Dataset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Cortez et al. (2009) — Vinho Verde red wine samples, Portugal  ·  1,599 rows × 12 columns (11 input features + quality target)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670048"/>
            <a:ext cx="2743200" cy="1170432"/>
          </a:xfrm>
          <a:prstGeom prst="roundRect">
            <a:avLst>
              <a:gd name="adj" fmla="val 6250"/>
            </a:avLst>
          </a:prstGeom>
          <a:solidFill>
            <a:srgbClr val="4E1329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" y="2779776"/>
            <a:ext cx="2414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Acidity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13232" y="3127248"/>
            <a:ext cx="2414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7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Tartaric acid content (g/dm³)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37560" y="2670048"/>
            <a:ext cx="2743200" cy="1170432"/>
          </a:xfrm>
          <a:prstGeom prst="roundRect">
            <a:avLst>
              <a:gd name="adj" fmla="val 6250"/>
            </a:avLst>
          </a:prstGeom>
          <a:solidFill>
            <a:srgbClr val="4E1329"/>
          </a:solidFill>
          <a:ln/>
        </p:spPr>
      </p:sp>
      <p:sp>
        <p:nvSpPr>
          <p:cNvPr id="12" name="Text 9"/>
          <p:cNvSpPr/>
          <p:nvPr/>
        </p:nvSpPr>
        <p:spPr>
          <a:xfrm>
            <a:off x="3502152" y="2779776"/>
            <a:ext cx="2414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Volatile Acidity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502152" y="3127248"/>
            <a:ext cx="2414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7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Acetic acid — too high causes vinegar taste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126480" y="2670048"/>
            <a:ext cx="2743200" cy="1170432"/>
          </a:xfrm>
          <a:prstGeom prst="roundRect">
            <a:avLst>
              <a:gd name="adj" fmla="val 6250"/>
            </a:avLst>
          </a:prstGeom>
          <a:solidFill>
            <a:srgbClr val="4E1329"/>
          </a:solidFill>
          <a:ln/>
        </p:spPr>
      </p:sp>
      <p:sp>
        <p:nvSpPr>
          <p:cNvPr id="15" name="Text 12"/>
          <p:cNvSpPr/>
          <p:nvPr/>
        </p:nvSpPr>
        <p:spPr>
          <a:xfrm>
            <a:off x="6291072" y="2779776"/>
            <a:ext cx="2414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Citric Acid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291072" y="3127248"/>
            <a:ext cx="2414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7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freshness and flavor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915400" y="2670048"/>
            <a:ext cx="2743200" cy="1170432"/>
          </a:xfrm>
          <a:prstGeom prst="roundRect">
            <a:avLst>
              <a:gd name="adj" fmla="val 6250"/>
            </a:avLst>
          </a:prstGeom>
          <a:solidFill>
            <a:srgbClr val="4E1329"/>
          </a:solidFill>
          <a:ln/>
        </p:spPr>
      </p:sp>
      <p:sp>
        <p:nvSpPr>
          <p:cNvPr id="18" name="Text 15"/>
          <p:cNvSpPr/>
          <p:nvPr/>
        </p:nvSpPr>
        <p:spPr>
          <a:xfrm>
            <a:off x="9079992" y="2779776"/>
            <a:ext cx="2414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Sugar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9079992" y="3127248"/>
            <a:ext cx="2414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7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left after fermentation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3913632"/>
            <a:ext cx="2743200" cy="1170432"/>
          </a:xfrm>
          <a:prstGeom prst="roundRect">
            <a:avLst>
              <a:gd name="adj" fmla="val 6250"/>
            </a:avLst>
          </a:prstGeom>
          <a:solidFill>
            <a:srgbClr val="4E1329"/>
          </a:solidFill>
          <a:ln/>
        </p:spPr>
      </p:sp>
      <p:sp>
        <p:nvSpPr>
          <p:cNvPr id="21" name="Text 18"/>
          <p:cNvSpPr/>
          <p:nvPr/>
        </p:nvSpPr>
        <p:spPr>
          <a:xfrm>
            <a:off x="713232" y="4023360"/>
            <a:ext cx="2414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Chlorides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13232" y="4370832"/>
            <a:ext cx="2414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7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content in the wine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337560" y="3913632"/>
            <a:ext cx="2743200" cy="1170432"/>
          </a:xfrm>
          <a:prstGeom prst="roundRect">
            <a:avLst>
              <a:gd name="adj" fmla="val 6250"/>
            </a:avLst>
          </a:prstGeom>
          <a:solidFill>
            <a:srgbClr val="4E1329"/>
          </a:solidFill>
          <a:ln/>
        </p:spPr>
      </p:sp>
      <p:sp>
        <p:nvSpPr>
          <p:cNvPr id="24" name="Text 21"/>
          <p:cNvSpPr/>
          <p:nvPr/>
        </p:nvSpPr>
        <p:spPr>
          <a:xfrm>
            <a:off x="3502152" y="4023360"/>
            <a:ext cx="2414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Sulfur Dioxide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3502152" y="4370832"/>
            <a:ext cx="2414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7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microbial growth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126480" y="3913632"/>
            <a:ext cx="2743200" cy="1170432"/>
          </a:xfrm>
          <a:prstGeom prst="roundRect">
            <a:avLst>
              <a:gd name="adj" fmla="val 6250"/>
            </a:avLst>
          </a:prstGeom>
          <a:solidFill>
            <a:srgbClr val="4E1329"/>
          </a:solidFill>
          <a:ln/>
        </p:spPr>
      </p:sp>
      <p:sp>
        <p:nvSpPr>
          <p:cNvPr id="27" name="Text 24"/>
          <p:cNvSpPr/>
          <p:nvPr/>
        </p:nvSpPr>
        <p:spPr>
          <a:xfrm>
            <a:off x="6291072" y="4023360"/>
            <a:ext cx="2414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Sulfur Dioxide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6291072" y="4370832"/>
            <a:ext cx="2414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7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+ bound forms of SO₂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8915400" y="3913632"/>
            <a:ext cx="2743200" cy="1170432"/>
          </a:xfrm>
          <a:prstGeom prst="roundRect">
            <a:avLst>
              <a:gd name="adj" fmla="val 6250"/>
            </a:avLst>
          </a:prstGeom>
          <a:solidFill>
            <a:srgbClr val="4E1329"/>
          </a:solidFill>
          <a:ln/>
        </p:spPr>
      </p:sp>
      <p:sp>
        <p:nvSpPr>
          <p:cNvPr id="30" name="Text 27"/>
          <p:cNvSpPr/>
          <p:nvPr/>
        </p:nvSpPr>
        <p:spPr>
          <a:xfrm>
            <a:off x="9079992" y="4023360"/>
            <a:ext cx="2414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9079992" y="4370832"/>
            <a:ext cx="2414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7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 sugar &amp; alcohol content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548640" y="5157216"/>
            <a:ext cx="2743200" cy="1170432"/>
          </a:xfrm>
          <a:prstGeom prst="roundRect">
            <a:avLst>
              <a:gd name="adj" fmla="val 6250"/>
            </a:avLst>
          </a:prstGeom>
          <a:solidFill>
            <a:srgbClr val="4E1329"/>
          </a:solidFill>
          <a:ln/>
        </p:spPr>
      </p:sp>
      <p:sp>
        <p:nvSpPr>
          <p:cNvPr id="33" name="Text 30"/>
          <p:cNvSpPr/>
          <p:nvPr/>
        </p:nvSpPr>
        <p:spPr>
          <a:xfrm>
            <a:off x="713232" y="5266944"/>
            <a:ext cx="2414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713232" y="5614416"/>
            <a:ext cx="2414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7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Acidity/basicity on a 0–14 scale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337560" y="5157216"/>
            <a:ext cx="2743200" cy="1170432"/>
          </a:xfrm>
          <a:prstGeom prst="roundRect">
            <a:avLst>
              <a:gd name="adj" fmla="val 6250"/>
            </a:avLst>
          </a:prstGeom>
          <a:solidFill>
            <a:srgbClr val="4E1329"/>
          </a:solidFill>
          <a:ln/>
        </p:spPr>
      </p:sp>
      <p:sp>
        <p:nvSpPr>
          <p:cNvPr id="36" name="Text 33"/>
          <p:cNvSpPr/>
          <p:nvPr/>
        </p:nvSpPr>
        <p:spPr>
          <a:xfrm>
            <a:off x="3502152" y="5266944"/>
            <a:ext cx="2414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Sulphates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3502152" y="5614416"/>
            <a:ext cx="2414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7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Additive; antimicrobial &amp; antioxidant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6126480" y="5157216"/>
            <a:ext cx="2743200" cy="1170432"/>
          </a:xfrm>
          <a:prstGeom prst="roundRect">
            <a:avLst>
              <a:gd name="adj" fmla="val 6250"/>
            </a:avLst>
          </a:prstGeom>
          <a:solidFill>
            <a:srgbClr val="4E1329"/>
          </a:solidFill>
          <a:ln/>
        </p:spPr>
      </p:sp>
      <p:sp>
        <p:nvSpPr>
          <p:cNvPr id="39" name="Text 36"/>
          <p:cNvSpPr/>
          <p:nvPr/>
        </p:nvSpPr>
        <p:spPr>
          <a:xfrm>
            <a:off x="6291072" y="5266944"/>
            <a:ext cx="2414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</a:t>
            </a:r>
            <a:endParaRPr lang="en-US" sz="1250" dirty="0"/>
          </a:p>
        </p:txBody>
      </p:sp>
      <p:sp>
        <p:nvSpPr>
          <p:cNvPr id="40" name="Text 37"/>
          <p:cNvSpPr/>
          <p:nvPr/>
        </p:nvSpPr>
        <p:spPr>
          <a:xfrm>
            <a:off x="6291072" y="5614416"/>
            <a:ext cx="2414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7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percentage by volume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8915400" y="5157216"/>
            <a:ext cx="2743200" cy="1170432"/>
          </a:xfrm>
          <a:prstGeom prst="roundRect">
            <a:avLst>
              <a:gd name="adj" fmla="val 6250"/>
            </a:avLst>
          </a:prstGeom>
          <a:solidFill>
            <a:srgbClr val="D4AF37"/>
          </a:solidFill>
          <a:ln/>
        </p:spPr>
      </p:sp>
      <p:sp>
        <p:nvSpPr>
          <p:cNvPr id="42" name="Text 39"/>
          <p:cNvSpPr/>
          <p:nvPr/>
        </p:nvSpPr>
        <p:spPr>
          <a:xfrm>
            <a:off x="9079992" y="5266944"/>
            <a:ext cx="2414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0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(target)</a:t>
            </a:r>
            <a:endParaRPr lang="en-US" sz="1250" dirty="0"/>
          </a:p>
        </p:txBody>
      </p:sp>
      <p:sp>
        <p:nvSpPr>
          <p:cNvPr id="43" name="Text 40"/>
          <p:cNvSpPr/>
          <p:nvPr/>
        </p:nvSpPr>
        <p:spPr>
          <a:xfrm>
            <a:off x="9079992" y="5614416"/>
            <a:ext cx="2414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F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Sensory score, 0 (poor) – 10 (excellent)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C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Quality Classification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0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DATA SOURCE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E9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Snapshot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3F0C1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819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1,599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167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samples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50876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3F0C1F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5819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74720" y="2167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50876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3F0C1F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5819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63640" y="2167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15400" y="150876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3F0C1F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0" y="15819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52560" y="2167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classes present (3–8)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11064240" cy="2688336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234440"/>
                <a:gridCol w="1234440"/>
                <a:gridCol w="1325880"/>
                <a:gridCol w="1234440"/>
                <a:gridCol w="109728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B06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B06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Acidity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B06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B06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Acidity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B06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B06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B06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B06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B06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Chlorides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B06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Alcohol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B06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B06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4AF3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0C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0C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0C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0C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0C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0C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0C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0C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E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E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E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E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E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E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E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E13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0C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0C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0C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0C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0C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0C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0C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0C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E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E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E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E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E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E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E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E13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0C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0C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0C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0C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0C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0C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0C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0C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E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E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E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E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E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E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E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E1329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548640" y="565099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7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rows of the red-wine dataset (subset of columns shown for readability).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C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Quality Classification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0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PREPROCESSING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E9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Preparation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3F0C1F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55648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6" name="Image 0" descr="icons/databas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129" y="1810969"/>
            <a:ext cx="392278" cy="39227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377440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 Check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49808" y="2688336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no missing values and no duplicate records across the 1,599 samples.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15544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4E1329"/>
          </a:solidFill>
          <a:ln/>
        </p:spPr>
      </p:sp>
      <p:sp>
        <p:nvSpPr>
          <p:cNvPr id="10" name="Shape 7"/>
          <p:cNvSpPr/>
          <p:nvPr/>
        </p:nvSpPr>
        <p:spPr>
          <a:xfrm>
            <a:off x="4498848" y="1755648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1" name="Image 1" descr="icons/filter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4169" y="1810969"/>
            <a:ext cx="392278" cy="39227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98848" y="2377440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 Treatment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498848" y="2688336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extreme values (e.g. residual sugar, chlorides) via IQR and capped rather than dropped, to preserve sample size.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15544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3F0C1F"/>
          </a:solidFill>
          <a:ln/>
        </p:spPr>
      </p:sp>
      <p:sp>
        <p:nvSpPr>
          <p:cNvPr id="15" name="Shape 11"/>
          <p:cNvSpPr/>
          <p:nvPr/>
        </p:nvSpPr>
        <p:spPr>
          <a:xfrm>
            <a:off x="8247888" y="1755648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6" name="Image 2" descr="icons/balance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3209" y="1810969"/>
            <a:ext cx="392278" cy="39227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47888" y="2377440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Scaling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47888" y="2688336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all 11 numeric features (zero mean, unit variance) so no single feature dominates the regression.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70332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3F0C1F"/>
          </a:solidFill>
          <a:ln/>
        </p:spPr>
      </p:sp>
      <p:sp>
        <p:nvSpPr>
          <p:cNvPr id="20" name="Shape 15"/>
          <p:cNvSpPr/>
          <p:nvPr/>
        </p:nvSpPr>
        <p:spPr>
          <a:xfrm>
            <a:off x="749808" y="3904488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21" name="Image 3" descr="icons/chartbar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129" y="3959809"/>
            <a:ext cx="392278" cy="39227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4526280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Re-coding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49808" y="4837176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(3–8) binarized to 'good / not-good' for Logistic Regression, and kept as ordered classes for Multinomial Logistic Regression.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97680" y="370332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4E1329"/>
          </a:solidFill>
          <a:ln/>
        </p:spPr>
      </p:sp>
      <p:sp>
        <p:nvSpPr>
          <p:cNvPr id="25" name="Shape 19"/>
          <p:cNvSpPr/>
          <p:nvPr/>
        </p:nvSpPr>
        <p:spPr>
          <a:xfrm>
            <a:off x="4498848" y="3904488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26" name="Image 4" descr="icons/network_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4169" y="3959809"/>
            <a:ext cx="392278" cy="39227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98848" y="4526280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Train/Test Split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498848" y="4837176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test, stratified by quality class to keep rare classes represented in both sets.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46720" y="370332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3F0C1F"/>
          </a:solidFill>
          <a:ln/>
        </p:spPr>
      </p:sp>
      <p:sp>
        <p:nvSpPr>
          <p:cNvPr id="30" name="Shape 23"/>
          <p:cNvSpPr/>
          <p:nvPr/>
        </p:nvSpPr>
        <p:spPr>
          <a:xfrm>
            <a:off x="8247888" y="3904488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31" name="Image 5" descr="icons/check_d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3209" y="3959809"/>
            <a:ext cx="392278" cy="39227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47888" y="4526280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Imbalance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247888" y="4837176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Noted heavy skew toward quality 5 &amp; 6; monitored per-class recall rather than accuracy alone.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C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Quality Classification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0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EXPLORATORY DATA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E9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Wine Quality Distribution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554480"/>
            <a:ext cx="3840480" cy="4480560"/>
          </a:xfrm>
          <a:prstGeom prst="roundRect">
            <a:avLst>
              <a:gd name="adj" fmla="val 2857"/>
            </a:avLst>
          </a:prstGeom>
          <a:solidFill>
            <a:srgbClr val="4E1329"/>
          </a:solidFill>
          <a:ln/>
        </p:spPr>
      </p:sp>
      <p:sp>
        <p:nvSpPr>
          <p:cNvPr id="6" name="Shape 3"/>
          <p:cNvSpPr/>
          <p:nvPr/>
        </p:nvSpPr>
        <p:spPr>
          <a:xfrm>
            <a:off x="8138160" y="1874520"/>
            <a:ext cx="566928" cy="566928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7" name="Image 0" descr="icons/chartbar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522" y="1936882"/>
            <a:ext cx="442204" cy="4422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38160" y="2560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Distribution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138160" y="3017520"/>
            <a:ext cx="3246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heavily concentrated at quality 5 and 6 — together over 80% of all samples.</a:t>
            </a:r>
            <a:endParaRPr lang="en-US" sz="120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few wines rated 3, 4, or 8 — the extremes are rare.</a:t>
            </a:r>
            <a:endParaRPr lang="en-US" sz="120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imbalance is exactly why multinomial classification is harder than the binary case.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C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Quality Classification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0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EXPLORATORY DATA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E9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Volatile Acidity vs. Quality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554480"/>
            <a:ext cx="3840480" cy="4480560"/>
          </a:xfrm>
          <a:prstGeom prst="roundRect">
            <a:avLst>
              <a:gd name="adj" fmla="val 2857"/>
            </a:avLst>
          </a:prstGeom>
          <a:solidFill>
            <a:srgbClr val="4E1329"/>
          </a:solidFill>
          <a:ln/>
        </p:spPr>
      </p:sp>
      <p:sp>
        <p:nvSpPr>
          <p:cNvPr id="6" name="Shape 3"/>
          <p:cNvSpPr/>
          <p:nvPr/>
        </p:nvSpPr>
        <p:spPr>
          <a:xfrm>
            <a:off x="8138160" y="1874520"/>
            <a:ext cx="566928" cy="566928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7" name="Image 0" descr="icons/chartline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522" y="1936882"/>
            <a:ext cx="442204" cy="4422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38160" y="2560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Signal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138160" y="3017520"/>
            <a:ext cx="3246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downward trend: as quality rises from 3 to 7, average volatile acidity falls.</a:t>
            </a:r>
            <a:endParaRPr lang="en-US" sz="120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volatile acidity (acetic / vinegar-like taste) is associated with lower sensory scores.</a:t>
            </a:r>
            <a:endParaRPr lang="en-US" sz="120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volatile acidity one of the strongest and most interpretable predictors in both models.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C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Quality Classification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0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EXPLORATORY DATA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E9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Analysis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731520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508760"/>
            <a:ext cx="3566160" cy="4709160"/>
          </a:xfrm>
          <a:prstGeom prst="roundRect">
            <a:avLst>
              <a:gd name="adj" fmla="val 3077"/>
            </a:avLst>
          </a:prstGeom>
          <a:solidFill>
            <a:srgbClr val="4E1329"/>
          </a:solidFill>
          <a:ln/>
        </p:spPr>
      </p:sp>
      <p:sp>
        <p:nvSpPr>
          <p:cNvPr id="6" name="Shape 3"/>
          <p:cNvSpPr/>
          <p:nvPr/>
        </p:nvSpPr>
        <p:spPr>
          <a:xfrm>
            <a:off x="8412480" y="1828800"/>
            <a:ext cx="566928" cy="566928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7" name="Image 0" descr="icons/network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4842" y="1891162"/>
            <a:ext cx="442204" cy="4422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12480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8412480" y="3026664"/>
            <a:ext cx="118872" cy="118872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0" name="Text 6"/>
          <p:cNvSpPr/>
          <p:nvPr/>
        </p:nvSpPr>
        <p:spPr>
          <a:xfrm>
            <a:off x="8668512" y="292608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(+0.48) is the strongest positive driver of quality.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8412480" y="3803904"/>
            <a:ext cx="118872" cy="118872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12" name="Text 8"/>
          <p:cNvSpPr/>
          <p:nvPr/>
        </p:nvSpPr>
        <p:spPr>
          <a:xfrm>
            <a:off x="8668512" y="370332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Volatile Acidity (–0.39) is the strongest negative driver.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412480" y="4581144"/>
            <a:ext cx="118872" cy="118872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4" name="Text 10"/>
          <p:cNvSpPr/>
          <p:nvPr/>
        </p:nvSpPr>
        <p:spPr>
          <a:xfrm>
            <a:off x="8668512" y="44805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Sulphates and citric acid add smaller positive lift.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412480" y="5358384"/>
            <a:ext cx="118872" cy="118872"/>
          </a:xfrm>
          <a:prstGeom prst="ellipse">
            <a:avLst/>
          </a:prstGeom>
          <a:solidFill>
            <a:srgbClr val="C7AFA0"/>
          </a:solidFill>
          <a:ln/>
        </p:spPr>
      </p:sp>
      <p:sp>
        <p:nvSpPr>
          <p:cNvPr id="16" name="Text 12"/>
          <p:cNvSpPr/>
          <p:nvPr/>
        </p:nvSpPr>
        <p:spPr>
          <a:xfrm>
            <a:off x="8668512" y="525780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SO₂, pH show negligible linear relationship — candidates to de-prioritize.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C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Quality Classification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0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MODELING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E9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Results &amp; Comparison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36192"/>
          <a:ext cx="685800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536192"/>
          <a:ext cx="3977640" cy="2743200"/>
        </p:xfrm>
        <a:graphic>
          <a:graphicData uri="http://schemas.openxmlformats.org/drawingml/2006/table">
            <a:tbl>
              <a:tblPr/>
              <a:tblGrid>
                <a:gridCol w="141732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06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06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Log. Reg.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06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(binary)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06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Multinomial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06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Log. Reg.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4AF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0C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0C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0C1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E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E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E13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0C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0C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0C1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E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E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E13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0C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0C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0C1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680960" y="443484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4E1329"/>
          </a:solidFill>
          <a:ln/>
        </p:spPr>
      </p:sp>
      <p:sp>
        <p:nvSpPr>
          <p:cNvPr id="7" name="Shape 3"/>
          <p:cNvSpPr/>
          <p:nvPr/>
        </p:nvSpPr>
        <p:spPr>
          <a:xfrm>
            <a:off x="7882128" y="4626864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8" name="Image 0" descr="icons/brain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2420" y="4677156"/>
            <a:ext cx="356616" cy="35661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458200" y="45720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Logistic Regression generalizes better here — the multinomial model trades accuracy for the finer 6-way quality resolution, and struggles most on the rare classes (3, 4, 8).</a:t>
            </a:r>
            <a:endParaRPr lang="en-US" sz="1080" dirty="0"/>
          </a:p>
        </p:txBody>
      </p:sp>
      <p:sp>
        <p:nvSpPr>
          <p:cNvPr id="10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C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Quality Classification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0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463040"/>
            <a:ext cx="4754880" cy="4754880"/>
          </a:xfrm>
          <a:prstGeom prst="ellipse">
            <a:avLst/>
          </a:prstGeom>
          <a:solidFill>
            <a:srgbClr val="3F0C1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E9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3F0C1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755648"/>
            <a:ext cx="512064" cy="512064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7" name="Image 0" descr="icons/check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567" y="1811975"/>
            <a:ext cx="399410" cy="3994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1554480"/>
            <a:ext cx="9829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&amp; volatile acidity are the two features that matter most for predicting wine quality.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596896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4E1329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798064"/>
            <a:ext cx="512064" cy="512064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1" name="Image 1" descr="icons/balance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67" y="2854391"/>
            <a:ext cx="399410" cy="3994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72768" y="2596896"/>
            <a:ext cx="9829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Logistic Regression (74% accuracy) outperforms the multinomial model on the simpler good/not-good task.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3639312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3F0C1F"/>
          </a:solidFill>
          <a:ln/>
        </p:spPr>
      </p:sp>
      <p:sp>
        <p:nvSpPr>
          <p:cNvPr id="14" name="Shape 10"/>
          <p:cNvSpPr/>
          <p:nvPr/>
        </p:nvSpPr>
        <p:spPr>
          <a:xfrm>
            <a:off x="777240" y="3840480"/>
            <a:ext cx="512064" cy="512064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5" name="Image 2" descr="icons/network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67" y="3896807"/>
            <a:ext cx="399410" cy="3994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72768" y="3639312"/>
            <a:ext cx="9829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Logistic Regression (61% accuracy) offers finer-grained, ordinal quality predictions but is limited by class imbalance.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548640" y="4681728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4E1329"/>
          </a:solidFill>
          <a:ln/>
        </p:spPr>
      </p:sp>
      <p:sp>
        <p:nvSpPr>
          <p:cNvPr id="18" name="Shape 13"/>
          <p:cNvSpPr/>
          <p:nvPr/>
        </p:nvSpPr>
        <p:spPr>
          <a:xfrm>
            <a:off x="777240" y="4882896"/>
            <a:ext cx="512064" cy="512064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9" name="Image 3" descr="icons/target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567" y="4939223"/>
            <a:ext cx="399410" cy="39941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72768" y="4681728"/>
            <a:ext cx="9829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ordinal regression, SMOTE-based rebalancing, and tree-based models (Random Forest / Gradient Boosting) for comparison.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548640" y="58064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C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Quality Classification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2026-08-29T04:05:41Z</dcterms:created>
  <dcterms:modified xsi:type="dcterms:W3CDTF">2026-08-29T04:05:41Z</dcterms:modified>
</cp:coreProperties>
</file>